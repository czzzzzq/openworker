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nature-protection-student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nature-protection-student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144000" y="-285750"/>
            <a:ext cx="2857500" cy="2857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267950" y="600075"/>
            <a:ext cx="1371600" cy="1371600"/>
          </a:xfrm>
          <a:prstGeom prst="ellipse">
            <a:avLst/>
          </a:prstGeom>
          <a:solidFill>
            <a:schemeClr val="accent2">
              <a:alpha val="86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4667250"/>
            <a:ext cx="2286000" cy="2286000"/>
          </a:xfrm>
          <a:prstGeom prst="ellipse">
            <a:avLst/>
          </a:prstGeom>
          <a:solidFill>
            <a:srgbClr val="DDF0FA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8858250" y="4333875"/>
            <a:ext cx="2571750" cy="1000125"/>
          </a:xfrm>
          <a:custGeom>
            <a:avLst/>
            <a:gdLst/>
            <a:ahLst/>
            <a:cxnLst/>
            <a:rect l="l" t="t" r="r" b="b"/>
            <a:pathLst>
              <a:path w="2571750" h="1000125">
                <a:moveTo>
                  <a:pt x="0" y="1000125"/>
                </a:moveTo>
                <a:cubicBezTo>
                  <a:pt x="666750" y="142875"/>
                  <a:pt x="1619250" y="0"/>
                  <a:pt x="2571750" y="619125"/>
                </a:cubicBezTo>
              </a:path>
            </a:pathLst>
          </a:custGeom>
          <a:noFill/>
          <a:ln w="95250" cap="rnd">
            <a:solidFill>
              <a:schemeClr val="accent1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8858250" y="4953000"/>
            <a:ext cx="2571750" cy="381000"/>
          </a:xfrm>
          <a:custGeom>
            <a:avLst/>
            <a:gdLst/>
            <a:ahLst/>
            <a:cxnLst/>
            <a:rect l="l" t="t" r="r" b="b"/>
            <a:pathLst>
              <a:path w="2571750" h="381000">
                <a:moveTo>
                  <a:pt x="0" y="381000"/>
                </a:moveTo>
                <a:cubicBezTo>
                  <a:pt x="952500" y="142875"/>
                  <a:pt x="1619250" y="381000"/>
                  <a:pt x="2571750" y="0"/>
                </a:cubicBezTo>
              </a:path>
            </a:pathLst>
          </a:custGeom>
          <a:noFill/>
          <a:ln w="47625" cap="rnd">
            <a:solidFill>
              <a:schemeClr val="accent3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10210800" y="5238750"/>
            <a:ext cx="904875" cy="447675"/>
            <a:chOff x="10210800" y="5238750"/>
            <a:chExt cx="904875" cy="447675"/>
          </a:xfrm>
        </p:grpSpPr>
        <p:sp>
          <p:nvSpPr>
            <p:cNvPr id="7" name="Ellipse 7"/>
            <p:cNvSpPr/>
            <p:nvPr/>
          </p:nvSpPr>
          <p:spPr>
            <a:xfrm>
              <a:off x="10210800" y="54483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0620375" y="5238750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982325" y="555307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791718" y="888682"/>
            <a:ext cx="369210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环保主题分享 / CAMPUS ECOLOGY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1050" y="2279332"/>
            <a:ext cx="3168015" cy="904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保护自然，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1050" y="3022282"/>
            <a:ext cx="3168015" cy="904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从校园开始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7532" y="3888105"/>
            <a:ext cx="313105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大学生可参与的四类行动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19150" y="4953000"/>
            <a:ext cx="2667000" cy="5905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217701" y="5147786"/>
            <a:ext cx="186989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rgbClr val="FFF8EA"/>
                </a:solidFill>
                <a:latin typeface="+mn-lt"/>
                <a:ea typeface="+mn-ea"/>
                <a:cs typeface="+mn-cs"/>
              </a:rPr>
              <a:t>从下一次选择开始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2104" y="6080760"/>
            <a:ext cx="34046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67066"/>
                </a:solidFill>
                <a:latin typeface="+mn-lt"/>
                <a:ea typeface="+mn-ea"/>
                <a:cs typeface="+mn-cs"/>
              </a:rPr>
              <a:t>一场关于减量、循环、修复与倡议的校园行动课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9892" y="597218"/>
            <a:ext cx="189696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 / 先把自然拉回身边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9224" y="1056322"/>
            <a:ext cx="2821686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自然不是远方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7037" y="1661636"/>
            <a:ext cx="557464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校园里的每一次选择，都在连接一张更大的生态网络。</a:t>
            </a:r>
          </a:p>
        </p:txBody>
      </p:sp>
      <p:sp>
        <p:nvSpPr>
          <p:cNvPr id="5" name="Ellipse 5"/>
          <p:cNvSpPr/>
          <p:nvPr/>
        </p:nvSpPr>
        <p:spPr>
          <a:xfrm>
            <a:off x="5086350" y="2895600"/>
            <a:ext cx="2019300" cy="201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781675" y="3586162"/>
            <a:ext cx="62865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FFF8EA"/>
                </a:solidFill>
                <a:latin typeface="+mn-lt"/>
                <a:ea typeface="+mn-ea"/>
                <a:cs typeface="+mn-cs"/>
              </a:rPr>
              <a:t>校园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49900" y="4001929"/>
            <a:ext cx="129220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80" dirty="0">
                <a:solidFill>
                  <a:srgbClr val="FFF8EA"/>
                </a:solidFill>
                <a:latin typeface="+mn-lt"/>
                <a:ea typeface="+mn-ea"/>
                <a:cs typeface="+mn-cs"/>
              </a:rPr>
              <a:t>也是生态系统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429000" y="2476500"/>
            <a:ext cx="5334000" cy="2952750"/>
            <a:chOff x="3429000" y="2476500"/>
            <a:chExt cx="5334000" cy="2952750"/>
          </a:xfrm>
        </p:grpSpPr>
        <p:sp>
          <p:nvSpPr>
            <p:cNvPr id="8" name="Freeform 8"/>
            <p:cNvSpPr/>
            <p:nvPr/>
          </p:nvSpPr>
          <p:spPr>
            <a:xfrm>
              <a:off x="3429000" y="2476500"/>
              <a:ext cx="1905000" cy="857250"/>
            </a:xfrm>
            <a:custGeom>
              <a:avLst/>
              <a:gdLst/>
              <a:ahLst/>
              <a:cxnLst/>
              <a:rect l="l" t="t" r="r" b="b"/>
              <a:pathLst>
                <a:path w="1905000" h="857250">
                  <a:moveTo>
                    <a:pt x="1905000" y="85725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6858000" y="2476500"/>
              <a:ext cx="1905000" cy="857250"/>
            </a:xfrm>
            <a:custGeom>
              <a:avLst/>
              <a:gdLst/>
              <a:ahLst/>
              <a:cxnLst/>
              <a:rect l="l" t="t" r="r" b="b"/>
              <a:pathLst>
                <a:path w="1905000" h="857250">
                  <a:moveTo>
                    <a:pt x="0" y="857250"/>
                  </a:moveTo>
                  <a:lnTo>
                    <a:pt x="1905000" y="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29000" y="4572000"/>
              <a:ext cx="1905000" cy="857250"/>
            </a:xfrm>
            <a:custGeom>
              <a:avLst/>
              <a:gdLst/>
              <a:ahLst/>
              <a:cxnLst/>
              <a:rect l="l" t="t" r="r" b="b"/>
              <a:pathLst>
                <a:path w="1905000" h="857250">
                  <a:moveTo>
                    <a:pt x="1905000" y="0"/>
                  </a:moveTo>
                  <a:lnTo>
                    <a:pt x="0" y="85725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6858000" y="4572000"/>
              <a:ext cx="1905000" cy="857250"/>
            </a:xfrm>
            <a:custGeom>
              <a:avLst/>
              <a:gdLst/>
              <a:ahLst/>
              <a:cxnLst/>
              <a:rect l="l" t="t" r="r" b="b"/>
              <a:pathLst>
                <a:path w="1905000" h="857250">
                  <a:moveTo>
                    <a:pt x="0" y="0"/>
                  </a:moveTo>
                  <a:lnTo>
                    <a:pt x="1905000" y="85725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2247900" y="1581150"/>
            <a:ext cx="7696200" cy="4648200"/>
            <a:chOff x="2247900" y="1581150"/>
            <a:chExt cx="7696200" cy="4648200"/>
          </a:xfrm>
        </p:grpSpPr>
        <p:sp>
          <p:nvSpPr>
            <p:cNvPr id="13" name="Ellipse 13"/>
            <p:cNvSpPr/>
            <p:nvPr/>
          </p:nvSpPr>
          <p:spPr>
            <a:xfrm>
              <a:off x="2247900" y="1581150"/>
              <a:ext cx="1219200" cy="1219200"/>
            </a:xfrm>
            <a:prstGeom prst="ellipse">
              <a:avLst/>
            </a:prstGeom>
            <a:solidFill>
              <a:srgbClr val="DDF0F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721432" y="1940719"/>
              <a:ext cx="27213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20239" y="22721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河流与雨水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724900" y="1581150"/>
              <a:ext cx="1219200" cy="1219200"/>
            </a:xfrm>
            <a:prstGeom prst="ellipse">
              <a:avLst/>
            </a:prstGeom>
            <a:solidFill>
              <a:srgbClr val="FFF0B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71889" y="1940719"/>
              <a:ext cx="52522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空气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97239" y="22721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出行与能源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2247900" y="5010150"/>
              <a:ext cx="1219200" cy="121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594889" y="5369719"/>
              <a:ext cx="52522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土壤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20239" y="57011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绿地与食物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8724900" y="5010150"/>
              <a:ext cx="1219200" cy="1219200"/>
            </a:xfrm>
            <a:prstGeom prst="ellipse">
              <a:avLst/>
            </a:prstGeom>
            <a:solidFill>
              <a:srgbClr val="FADAC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71889" y="5369719"/>
              <a:ext cx="52522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97239" y="57011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植物与动物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60654" y="629031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67066"/>
                </a:solidFill>
                <a:latin typeface="+mn-lt"/>
                <a:ea typeface="+mn-ea"/>
                <a:cs typeface="+mn-cs"/>
              </a:rPr>
              <a:t>先改变视角，再选择行动。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9892" y="597218"/>
            <a:ext cx="207870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 / 把环保变成行动地图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9224" y="1056322"/>
            <a:ext cx="2821686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四类行动地图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7037" y="1661636"/>
            <a:ext cx="511154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不追求一次做到完美，先找到最容易开始的一格。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66750" y="2571750"/>
            <a:ext cx="10572750" cy="2381250"/>
            <a:chOff x="666750" y="2571750"/>
            <a:chExt cx="10572750" cy="2381250"/>
          </a:xfrm>
        </p:grpSpPr>
        <p:sp>
          <p:nvSpPr>
            <p:cNvPr id="5" name="Rectangle 5"/>
            <p:cNvSpPr/>
            <p:nvPr/>
          </p:nvSpPr>
          <p:spPr>
            <a:xfrm>
              <a:off x="666750" y="2571750"/>
              <a:ext cx="2428875" cy="2381250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971550" y="287655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55647" y="3045619"/>
              <a:ext cx="16520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8E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5558" y="355092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减量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0130" y="4076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少一次性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0892" y="44262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67066"/>
                  </a:solidFill>
                  <a:latin typeface="+mn-lt"/>
                  <a:ea typeface="+mn-ea"/>
                  <a:cs typeface="+mn-cs"/>
                </a:rPr>
                <a:t>让资源少走一圈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381375" y="2571750"/>
              <a:ext cx="2428875" cy="2381250"/>
            </a:xfrm>
            <a:prstGeom prst="roundRect">
              <a:avLst>
                <a:gd name="adj" fmla="val 11200"/>
              </a:avLst>
            </a:prstGeom>
            <a:solidFill>
              <a:srgbClr val="DDF0F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3686175" y="28765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870272" y="3045619"/>
              <a:ext cx="16520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8E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50183" y="355092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循环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54755" y="40767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多使用一次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55517" y="44262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67066"/>
                  </a:solidFill>
                  <a:latin typeface="+mn-lt"/>
                  <a:ea typeface="+mn-ea"/>
                  <a:cs typeface="+mn-cs"/>
                </a:rPr>
                <a:t>让物品延长寿命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0" y="2571750"/>
              <a:ext cx="2428875" cy="2381250"/>
            </a:xfrm>
            <a:prstGeom prst="roundRect">
              <a:avLst>
                <a:gd name="adj" fmla="val 11200"/>
              </a:avLst>
            </a:prstGeom>
            <a:solidFill>
              <a:srgbClr val="FFF0B8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400800" y="2876550"/>
              <a:ext cx="533400" cy="533400"/>
            </a:xfrm>
            <a:prstGeom prst="ellipse">
              <a:avLst/>
            </a:prstGeom>
            <a:solidFill>
              <a:srgbClr val="F0B42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84897" y="3045619"/>
              <a:ext cx="16520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8E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4808" y="355092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9380" y="40767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让空间更有生命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70142" y="4426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67066"/>
                  </a:solidFill>
                  <a:latin typeface="+mn-lt"/>
                  <a:ea typeface="+mn-ea"/>
                  <a:cs typeface="+mn-cs"/>
                </a:rPr>
                <a:t>照顾校园生境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810625" y="2571750"/>
              <a:ext cx="2428875" cy="2381250"/>
            </a:xfrm>
            <a:prstGeom prst="roundRect">
              <a:avLst>
                <a:gd name="adj" fmla="val 11200"/>
              </a:avLst>
            </a:prstGeom>
            <a:solidFill>
              <a:srgbClr val="FADACF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9115425" y="2876550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99522" y="3045619"/>
              <a:ext cx="16520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8EA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79433" y="355092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倡议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84005" y="40767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把好选择变规则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84767" y="44262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67066"/>
                  </a:solidFill>
                  <a:latin typeface="+mn-lt"/>
                  <a:ea typeface="+mn-ea"/>
                  <a:cs typeface="+mn-cs"/>
                </a:rPr>
                <a:t>让更多人一起做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1524000" y="5619750"/>
            <a:ext cx="9144000" cy="9525"/>
          </a:xfrm>
          <a:custGeom>
            <a:avLst/>
            <a:gdLst/>
            <a:ahLst/>
            <a:cxnLst/>
            <a:rect l="l" t="t" r="r" b="b"/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solidFill>
            <a:srgbClr val="000000"/>
          </a:solidFill>
          <a:ln w="38100">
            <a:solidFill>
              <a:schemeClr val="accent1"/>
            </a:solidFill>
            <a:custDash>
              <a:ds d="200000" sp="300000"/>
            </a:custDash>
          </a:ln>
        </p:spPr>
      </p:sp>
      <p:sp>
        <p:nvSpPr>
          <p:cNvPr id="31" name="TextBox 31"/>
          <p:cNvSpPr txBox="1"/>
          <p:nvPr/>
        </p:nvSpPr>
        <p:spPr>
          <a:xfrm>
            <a:off x="4754118" y="5863590"/>
            <a:ext cx="26837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从个人选择，到共同习惯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9892" y="597218"/>
            <a:ext cx="17152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 / 用数据看见规模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9224" y="1056322"/>
            <a:ext cx="3750564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塑料问题有多大？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7418" y="1669732"/>
            <a:ext cx="559205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生产很大，泄漏也不可忽视——水生态系统正在承受压力。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45261" y="2333625"/>
            <a:ext cx="10389489" cy="3135820"/>
            <a:chOff x="945261" y="2333625"/>
            <a:chExt cx="10389489" cy="3135820"/>
          </a:xfrm>
        </p:grpSpPr>
        <p:sp>
          <p:nvSpPr>
            <p:cNvPr id="5" name="TextBox 5"/>
            <p:cNvSpPr txBox="1"/>
            <p:nvPr/>
          </p:nvSpPr>
          <p:spPr>
            <a:xfrm>
              <a:off x="945261" y="2703671"/>
              <a:ext cx="15724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67066"/>
                  </a:solidFill>
                  <a:latin typeface="+mn-lt"/>
                  <a:ea typeface="+mn-ea"/>
                  <a:cs typeface="+mn-cs"/>
                </a:rPr>
                <a:t>全球塑料生产 / 年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" y="3143250"/>
              <a:ext cx="7524750" cy="6858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96147" y="3292792"/>
              <a:ext cx="136028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4亿+ 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5261" y="4322921"/>
              <a:ext cx="23370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67066"/>
                  </a:solidFill>
                  <a:latin typeface="+mn-lt"/>
                  <a:ea typeface="+mn-ea"/>
                  <a:cs typeface="+mn-cs"/>
                </a:rPr>
                <a:t>泄漏进入水生生态系统 / 年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52500" y="4762500"/>
              <a:ext cx="438150" cy="685800"/>
            </a:xfrm>
            <a:prstGeom prst="roundRect">
              <a:avLst>
                <a:gd name="adj" fmla="val 3913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00022" y="4912042"/>
              <a:ext cx="29112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1900–2300 万吨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334500" y="2333625"/>
              <a:ext cx="2000250" cy="29527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782175" y="2686050"/>
              <a:ext cx="1104900" cy="1104900"/>
            </a:xfrm>
            <a:prstGeom prst="ellipse">
              <a:avLst/>
            </a:prstGeom>
            <a:solidFill>
              <a:srgbClr val="DDF0F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0048875" y="2809875"/>
              <a:ext cx="571500" cy="904875"/>
            </a:xfrm>
            <a:custGeom>
              <a:avLst/>
              <a:gdLst/>
              <a:ahLst/>
              <a:cxnLst/>
              <a:rect l="l" t="t" r="r" b="b"/>
              <a:pathLst>
                <a:path w="571500" h="904875">
                  <a:moveTo>
                    <a:pt x="285750" y="0"/>
                  </a:moveTo>
                  <a:cubicBezTo>
                    <a:pt x="0" y="428625"/>
                    <a:pt x="0" y="714375"/>
                    <a:pt x="285750" y="904875"/>
                  </a:cubicBezTo>
                  <a:cubicBezTo>
                    <a:pt x="571500" y="714375"/>
                    <a:pt x="571500" y="428625"/>
                    <a:pt x="2857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81997" y="4203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进入水里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38894" y="46248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每年仍有大量泄漏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80466" y="6077902"/>
            <a:ext cx="80048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67066"/>
                </a:solidFill>
                <a:latin typeface="+mn-lt"/>
                <a:ea typeface="+mn-ea"/>
                <a:cs typeface="+mn-cs"/>
              </a:rPr>
              <a:t>来源：UNEP Annual Report 2024；UNEP Plastic Pollution。事实编号：F001、F002。两项数据口径不同，仅用于量级提示。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9892" y="597218"/>
            <a:ext cx="17152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 / 找到改变的环节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9224" y="1056322"/>
            <a:ext cx="6072759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一次性用品，如何变成选择？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7418" y="1669732"/>
            <a:ext cx="536992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改变不只发生在“扔掉”那一刻，而是发生在选择之前。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81125" y="2714625"/>
            <a:ext cx="9429750" cy="2000250"/>
            <a:chOff x="1381125" y="2714625"/>
            <a:chExt cx="9429750" cy="2000250"/>
          </a:xfrm>
        </p:grpSpPr>
        <p:sp>
          <p:nvSpPr>
            <p:cNvPr id="5" name="Ellipse 5"/>
            <p:cNvSpPr/>
            <p:nvPr/>
          </p:nvSpPr>
          <p:spPr>
            <a:xfrm>
              <a:off x="1381125" y="2714625"/>
              <a:ext cx="2000250" cy="2000250"/>
            </a:xfrm>
            <a:prstGeom prst="ellipse">
              <a:avLst/>
            </a:prstGeom>
            <a:solidFill>
              <a:srgbClr val="DDF0F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087880" y="33928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购买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20050" y="38547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需要它吗？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095875" y="2714625"/>
              <a:ext cx="2000250" cy="200025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802630" y="33928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使用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4799" y="38547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能重复吗？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810625" y="2714625"/>
              <a:ext cx="2000250" cy="2000250"/>
            </a:xfrm>
            <a:prstGeom prst="ellipse">
              <a:avLst/>
            </a:prstGeom>
            <a:solidFill>
              <a:srgbClr val="FADAC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517380" y="33928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丢弃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167812" y="38547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能正确分类吗？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381250" y="3714750"/>
            <a:ext cx="7429500" cy="2190750"/>
            <a:chOff x="2381250" y="3714750"/>
            <a:chExt cx="7429500" cy="2190750"/>
          </a:xfrm>
        </p:grpSpPr>
        <p:sp>
          <p:nvSpPr>
            <p:cNvPr id="15" name="Freeform 15"/>
            <p:cNvSpPr/>
            <p:nvPr/>
          </p:nvSpPr>
          <p:spPr>
            <a:xfrm>
              <a:off x="3429000" y="37147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143750" y="37147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381250" y="4857750"/>
              <a:ext cx="7429500" cy="1047750"/>
            </a:xfrm>
            <a:custGeom>
              <a:avLst/>
              <a:gdLst/>
              <a:ahLst/>
              <a:cxnLst/>
              <a:rect l="l" t="t" r="r" b="b"/>
              <a:pathLst>
                <a:path w="7429500" h="1047750">
                  <a:moveTo>
                    <a:pt x="7429500" y="0"/>
                  </a:moveTo>
                  <a:cubicBezTo>
                    <a:pt x="5810250" y="1047750"/>
                    <a:pt x="1619250" y="1047750"/>
                    <a:pt x="0" y="0"/>
                  </a:cubicBez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2295525" y="3571875"/>
            <a:ext cx="6438900" cy="1409700"/>
            <a:chOff x="2295525" y="3571875"/>
            <a:chExt cx="6438900" cy="1409700"/>
          </a:xfrm>
        </p:grpSpPr>
        <p:sp>
          <p:nvSpPr>
            <p:cNvPr id="19" name="Freeform 19"/>
            <p:cNvSpPr/>
            <p:nvPr/>
          </p:nvSpPr>
          <p:spPr>
            <a:xfrm>
              <a:off x="4810125" y="3571875"/>
              <a:ext cx="209550" cy="285750"/>
            </a:xfrm>
            <a:custGeom>
              <a:avLst/>
              <a:gdLst/>
              <a:ahLst/>
              <a:cxnLst/>
              <a:rect l="l" t="t" r="r" b="b"/>
              <a:pathLst>
                <a:path w="209550" h="285750">
                  <a:moveTo>
                    <a:pt x="0" y="0"/>
                  </a:moveTo>
                  <a:lnTo>
                    <a:pt x="20955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524875" y="3571875"/>
              <a:ext cx="209550" cy="285750"/>
            </a:xfrm>
            <a:custGeom>
              <a:avLst/>
              <a:gdLst/>
              <a:ahLst/>
              <a:cxnLst/>
              <a:rect l="l" t="t" r="r" b="b"/>
              <a:pathLst>
                <a:path w="209550" h="285750">
                  <a:moveTo>
                    <a:pt x="0" y="0"/>
                  </a:moveTo>
                  <a:lnTo>
                    <a:pt x="209550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295525" y="4714875"/>
              <a:ext cx="228600" cy="266700"/>
            </a:xfrm>
            <a:custGeom>
              <a:avLst/>
              <a:gdLst/>
              <a:ahLst/>
              <a:cxnLst/>
              <a:rect l="l" t="t" r="r" b="b"/>
              <a:pathLst>
                <a:path w="228600" h="266700">
                  <a:moveTo>
                    <a:pt x="38100" y="0"/>
                  </a:moveTo>
                  <a:lnTo>
                    <a:pt x="0" y="266700"/>
                  </a:lnTo>
                  <a:lnTo>
                    <a:pt x="22860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23" name="Rectangle 23"/>
          <p:cNvSpPr/>
          <p:nvPr/>
        </p:nvSpPr>
        <p:spPr>
          <a:xfrm>
            <a:off x="4429125" y="5429250"/>
            <a:ext cx="3333750" cy="6286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009389" y="5643086"/>
            <a:ext cx="2173223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20" b="1" dirty="0">
                <a:solidFill>
                  <a:srgbClr val="FFF8EA"/>
                </a:solidFill>
                <a:latin typeface="+mn-lt"/>
                <a:ea typeface="+mn-ea"/>
                <a:cs typeface="+mn-cs"/>
              </a:rPr>
              <a:t>把“默认”改成“选择”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477250" y="1619250"/>
            <a:ext cx="3619500" cy="3619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239250" y="2381250"/>
            <a:ext cx="2095500" cy="2095500"/>
          </a:xfrm>
          <a:prstGeom prst="ellipse">
            <a:avLst/>
          </a:prstGeom>
          <a:solidFill>
            <a:srgbClr val="FADAC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59892" y="597218"/>
            <a:ext cx="135175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05 / 从餐桌开始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9224" y="1056322"/>
            <a:ext cx="5608320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每天被浪费的，不只是食物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7418" y="1774508"/>
            <a:ext cx="603629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全球家庭每天浪费的餐食，足以让“按需选择”成为重要行动。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0100" y="2775585"/>
            <a:ext cx="3238388" cy="167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7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10亿+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4108" y="4074795"/>
            <a:ext cx="202995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份餐食 / 每天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7255" y="4648200"/>
            <a:ext cx="173164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67066"/>
                </a:solidFill>
                <a:latin typeface="+mn-lt"/>
                <a:ea typeface="+mn-ea"/>
                <a:cs typeface="+mn-cs"/>
              </a:rPr>
              <a:t>2022 年，全球家庭</a:t>
            </a:r>
          </a:p>
        </p:txBody>
      </p:sp>
      <p:sp>
        <p:nvSpPr>
          <p:cNvPr id="10" name="Freeform 10"/>
          <p:cNvSpPr/>
          <p:nvPr/>
        </p:nvSpPr>
        <p:spPr>
          <a:xfrm>
            <a:off x="9191625" y="2381250"/>
            <a:ext cx="2190750" cy="2047875"/>
          </a:xfrm>
          <a:custGeom>
            <a:avLst/>
            <a:gdLst/>
            <a:ahLst/>
            <a:cxnLst/>
            <a:rect l="l" t="t" r="r" b="b"/>
            <a:pathLst>
              <a:path w="2190750" h="2047875">
                <a:moveTo>
                  <a:pt x="476250" y="0"/>
                </a:moveTo>
                <a:cubicBezTo>
                  <a:pt x="0" y="571500"/>
                  <a:pt x="0" y="1476375"/>
                  <a:pt x="1095375" y="2047875"/>
                </a:cubicBezTo>
                <a:cubicBezTo>
                  <a:pt x="2190750" y="1476375"/>
                  <a:pt x="2190750" y="571500"/>
                  <a:pt x="1095375" y="0"/>
                </a:cubicBezTo>
                <a:close/>
              </a:path>
            </a:pathLst>
          </a:custGeom>
          <a:solidFill>
            <a:schemeClr val="accent3">
              <a:alpha val="90000"/>
            </a:schemeClr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9848850" y="2990850"/>
            <a:ext cx="876300" cy="876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9982200" y="3124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304800"/>
                </a:moveTo>
                <a:lnTo>
                  <a:pt x="609600" y="304800"/>
                </a:lnTo>
                <a:moveTo>
                  <a:pt x="304800" y="0"/>
                </a:moveTo>
                <a:lnTo>
                  <a:pt x="304800" y="609600"/>
                </a:lnTo>
              </a:path>
            </a:pathLst>
          </a:custGeom>
          <a:solidFill>
            <a:srgbClr val="000000"/>
          </a:solidFill>
          <a:ln w="76200" cap="rnd">
            <a:solidFill>
              <a:schemeClr val="accent1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8846058" y="5465921"/>
            <a:ext cx="288188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少一点浪费，多一点被看见的价值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466" y="6077902"/>
            <a:ext cx="36937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67066"/>
                </a:solidFill>
                <a:latin typeface="+mn-lt"/>
                <a:ea typeface="+mn-ea"/>
                <a:cs typeface="+mn-cs"/>
              </a:rPr>
              <a:t>来源：UNEP Food Waste Index 2024。事实编号：F003。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9892" y="597218"/>
            <a:ext cx="17152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 / 把数据变成习惯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9986" y="1072515"/>
            <a:ext cx="461370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从“吃多少”到“点多少”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6656" y="165354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减废不靠完美，而靠下一次更准确的选择。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57250" y="2571750"/>
            <a:ext cx="10477500" cy="3181350"/>
            <a:chOff x="857250" y="2571750"/>
            <a:chExt cx="10477500" cy="3181350"/>
          </a:xfrm>
        </p:grpSpPr>
        <p:sp>
          <p:nvSpPr>
            <p:cNvPr id="5" name="Rectangle 5"/>
            <p:cNvSpPr/>
            <p:nvPr/>
          </p:nvSpPr>
          <p:spPr>
            <a:xfrm>
              <a:off x="857250" y="2571750"/>
              <a:ext cx="10477500" cy="6096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81481" y="27679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43481" y="276796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先估量，再取餐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58481" y="2767965"/>
              <a:ext cx="24656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67066"/>
                  </a:solidFill>
                  <a:latin typeface="+mn-lt"/>
                  <a:ea typeface="+mn-ea"/>
                  <a:cs typeface="+mn-cs"/>
                </a:rPr>
                <a:t>给自己留一点“刚刚好”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57250" y="3429000"/>
              <a:ext cx="10477500" cy="609600"/>
            </a:xfrm>
            <a:prstGeom prst="roundRect">
              <a:avLst>
                <a:gd name="adj" fmla="val 50000"/>
              </a:avLst>
            </a:prstGeom>
            <a:solidFill>
              <a:srgbClr val="DDF0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81481" y="36252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43481" y="362521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小份优先，不够再加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58481" y="36252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67066"/>
                  </a:solidFill>
                  <a:latin typeface="+mn-lt"/>
                  <a:ea typeface="+mn-ea"/>
                  <a:cs typeface="+mn-cs"/>
                </a:rPr>
                <a:t>让选择更接近需要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57250" y="4286250"/>
              <a:ext cx="10477500" cy="609600"/>
            </a:xfrm>
            <a:prstGeom prst="roundRect">
              <a:avLst>
                <a:gd name="adj" fmla="val 50000"/>
              </a:avLst>
            </a:prstGeom>
            <a:solidFill>
              <a:srgbClr val="FFF0B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81481" y="44824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43481" y="448246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剩余就打包，不随意多拿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58481" y="448246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67066"/>
                  </a:solidFill>
                  <a:latin typeface="+mn-lt"/>
                  <a:ea typeface="+mn-ea"/>
                  <a:cs typeface="+mn-cs"/>
                </a:rPr>
                <a:t>让食物多一次机会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57250" y="5143500"/>
              <a:ext cx="10477500" cy="609600"/>
            </a:xfrm>
            <a:prstGeom prst="roundRect">
              <a:avLst>
                <a:gd name="adj" fmla="val 50000"/>
              </a:avLst>
            </a:prstGeom>
            <a:solidFill>
              <a:srgbClr val="FADAC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81481" y="53397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43481" y="53397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把建议反馈给食堂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58481" y="533971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67066"/>
                  </a:solidFill>
                  <a:latin typeface="+mn-lt"/>
                  <a:ea typeface="+mn-ea"/>
                  <a:cs typeface="+mn-cs"/>
                </a:rPr>
                <a:t>让系统也更好用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4632960" y="6092190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先选一个，不要一次选五个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9892" y="597218"/>
            <a:ext cx="22604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07 / 从单点问题到系统理解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9224" y="1056322"/>
            <a:ext cx="4679442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气候与自然，是一张网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7418" y="1669732"/>
            <a:ext cx="601408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问题相互连接，所以行动也需要个人、组织与制度共同参与。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429000" y="2571750"/>
            <a:ext cx="5334000" cy="2390775"/>
            <a:chOff x="3429000" y="2571750"/>
            <a:chExt cx="5334000" cy="2390775"/>
          </a:xfrm>
        </p:grpSpPr>
        <p:sp>
          <p:nvSpPr>
            <p:cNvPr id="5" name="Freeform 5"/>
            <p:cNvSpPr/>
            <p:nvPr/>
          </p:nvSpPr>
          <p:spPr>
            <a:xfrm>
              <a:off x="3429000" y="2571750"/>
              <a:ext cx="2667000" cy="1047750"/>
            </a:xfrm>
            <a:custGeom>
              <a:avLst/>
              <a:gdLst/>
              <a:ahLst/>
              <a:cxnLst/>
              <a:rect l="l" t="t" r="r" b="b"/>
              <a:pathLst>
                <a:path w="2667000" h="1047750">
                  <a:moveTo>
                    <a:pt x="2667000" y="104775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6096000" y="2571750"/>
              <a:ext cx="2667000" cy="1047750"/>
            </a:xfrm>
            <a:custGeom>
              <a:avLst/>
              <a:gdLst/>
              <a:ahLst/>
              <a:cxnLst/>
              <a:rect l="l" t="t" r="r" b="b"/>
              <a:pathLst>
                <a:path w="2667000" h="1047750">
                  <a:moveTo>
                    <a:pt x="0" y="1047750"/>
                  </a:moveTo>
                  <a:lnTo>
                    <a:pt x="2667000" y="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3429000" y="3619500"/>
              <a:ext cx="2667000" cy="1333500"/>
            </a:xfrm>
            <a:custGeom>
              <a:avLst/>
              <a:gdLst/>
              <a:ahLst/>
              <a:cxnLst/>
              <a:rect l="l" t="t" r="r" b="b"/>
              <a:pathLst>
                <a:path w="2667000" h="1333500">
                  <a:moveTo>
                    <a:pt x="2667000" y="0"/>
                  </a:moveTo>
                  <a:lnTo>
                    <a:pt x="0" y="133350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096000" y="3619500"/>
              <a:ext cx="2667000" cy="1333500"/>
            </a:xfrm>
            <a:custGeom>
              <a:avLst/>
              <a:gdLst/>
              <a:ahLst/>
              <a:cxnLst/>
              <a:rect l="l" t="t" r="r" b="b"/>
              <a:pathLst>
                <a:path w="2667000" h="1333500">
                  <a:moveTo>
                    <a:pt x="0" y="0"/>
                  </a:moveTo>
                  <a:lnTo>
                    <a:pt x="2667000" y="133350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429000" y="25717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29000" y="49530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2171700" y="1600200"/>
            <a:ext cx="7848600" cy="4324350"/>
            <a:chOff x="2171700" y="1600200"/>
            <a:chExt cx="7848600" cy="4324350"/>
          </a:xfrm>
        </p:grpSpPr>
        <p:sp>
          <p:nvSpPr>
            <p:cNvPr id="12" name="Ellipse 12"/>
            <p:cNvSpPr/>
            <p:nvPr/>
          </p:nvSpPr>
          <p:spPr>
            <a:xfrm>
              <a:off x="5219700" y="2743200"/>
              <a:ext cx="1752600" cy="175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02630" y="33356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8EA"/>
                  </a:solidFill>
                  <a:latin typeface="+mn-lt"/>
                  <a:ea typeface="+mn-ea"/>
                  <a:cs typeface="+mn-cs"/>
                </a:rPr>
                <a:t>自然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16536" y="37595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8EA"/>
                  </a:solidFill>
                  <a:latin typeface="+mn-lt"/>
                  <a:ea typeface="+mn-ea"/>
                  <a:cs typeface="+mn-cs"/>
                </a:rPr>
                <a:t>一张网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2171700" y="1600200"/>
              <a:ext cx="1371600" cy="1371600"/>
            </a:xfrm>
            <a:prstGeom prst="ellipse">
              <a:avLst/>
            </a:prstGeom>
            <a:solidFill>
              <a:srgbClr val="FADAC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594889" y="2035969"/>
              <a:ext cx="52522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气候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20239" y="240553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影响与风险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8648700" y="1600200"/>
              <a:ext cx="1371600" cy="1371600"/>
            </a:xfrm>
            <a:prstGeom prst="ellipse">
              <a:avLst/>
            </a:prstGeom>
            <a:solidFill>
              <a:srgbClr val="DDF0F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98432" y="2035969"/>
              <a:ext cx="27213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97239" y="240553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循环与生态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2171700" y="4552950"/>
              <a:ext cx="1371600" cy="1371600"/>
            </a:xfrm>
            <a:prstGeom prst="ellipse">
              <a:avLst/>
            </a:prstGeom>
            <a:solidFill>
              <a:srgbClr val="FFF0B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594889" y="4988719"/>
              <a:ext cx="52522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土壤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20239" y="53582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食物与生境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648700" y="4552950"/>
              <a:ext cx="1371600" cy="137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45347" y="4988719"/>
              <a:ext cx="77830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多样性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97239" y="53582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生命共同体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61416" y="6173152"/>
            <a:ext cx="36996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67066"/>
                </a:solidFill>
                <a:latin typeface="+mn-lt"/>
                <a:ea typeface="+mn-ea"/>
                <a:cs typeface="+mn-cs"/>
              </a:rPr>
              <a:t>依据 IPCC AR6 综合报告的主题框架。事实编号：F005。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9892" y="597218"/>
            <a:ext cx="189696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08 / 把目标变得可追踪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9224" y="1056322"/>
            <a:ext cx="6510493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30%：一个需要共同完成的目标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7418" y="1669732"/>
            <a:ext cx="51255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目标不是口号，而是让恢复行动有方向、有时间点。</a:t>
            </a:r>
          </a:p>
        </p:txBody>
      </p:sp>
      <p:sp>
        <p:nvSpPr>
          <p:cNvPr id="5" name="Ellipse 5"/>
          <p:cNvSpPr/>
          <p:nvPr/>
        </p:nvSpPr>
        <p:spPr>
          <a:xfrm>
            <a:off x="2190750" y="2333625"/>
            <a:ext cx="3048000" cy="3048000"/>
          </a:xfrm>
          <a:prstGeom prst="ellipse">
            <a:avLst/>
          </a:prstGeom>
          <a:noFill/>
          <a:ln w="495300">
            <a:solidFill>
              <a:srgbClr val="E9F5E7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3714750" y="2333585"/>
            <a:ext cx="1600565" cy="2000290"/>
          </a:xfrm>
          <a:custGeom>
            <a:avLst/>
            <a:gdLst/>
            <a:ahLst/>
            <a:cxnLst/>
            <a:rect l="l" t="t" r="r" b="b"/>
            <a:pathLst>
              <a:path w="1600565" h="2000290">
                <a:moveTo>
                  <a:pt x="0" y="40"/>
                </a:moveTo>
                <a:cubicBezTo>
                  <a:pt x="488847" y="0"/>
                  <a:pt x="948042" y="234466"/>
                  <a:pt x="1234670" y="630465"/>
                </a:cubicBezTo>
                <a:cubicBezTo>
                  <a:pt x="1521298" y="1026465"/>
                  <a:pt x="1600565" y="1535926"/>
                  <a:pt x="1447800" y="2000290"/>
                </a:cubicBezTo>
              </a:path>
            </a:pathLst>
          </a:custGeom>
          <a:noFill/>
          <a:ln w="495300">
            <a:solidFill>
              <a:schemeClr val="accent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950427" y="3385185"/>
            <a:ext cx="1528646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30%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73273" y="4279582"/>
            <a:ext cx="10829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567066"/>
                </a:solidFill>
                <a:latin typeface="+mn-lt"/>
                <a:ea typeface="+mn-ea"/>
                <a:cs typeface="+mn-cs"/>
              </a:rPr>
              <a:t>到 2030 年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477000" y="2619375"/>
            <a:ext cx="4095750" cy="2971800"/>
            <a:chOff x="6477000" y="2619375"/>
            <a:chExt cx="4095750" cy="2971800"/>
          </a:xfrm>
        </p:grpSpPr>
        <p:sp>
          <p:nvSpPr>
            <p:cNvPr id="9" name="Rectangle 9"/>
            <p:cNvSpPr/>
            <p:nvPr/>
          </p:nvSpPr>
          <p:spPr>
            <a:xfrm>
              <a:off x="6477000" y="2619375"/>
              <a:ext cx="4095750" cy="876300"/>
            </a:xfrm>
            <a:prstGeom prst="roundRect">
              <a:avLst>
                <a:gd name="adj" fmla="val 2608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49237" y="2804636"/>
              <a:ext cx="1175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恢复什么？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51142" y="31689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退化的陆地、内陆水域、海洋与沿海生态系统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3762375"/>
              <a:ext cx="4095750" cy="876300"/>
            </a:xfrm>
            <a:prstGeom prst="roundRect">
              <a:avLst>
                <a:gd name="adj" fmla="val 26087"/>
              </a:avLst>
            </a:prstGeom>
            <a:solidFill>
              <a:srgbClr val="DDF0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49237" y="3947636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为什么重要？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51142" y="43119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增强生物多样性、生态功能与连通性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477000" y="4905375"/>
              <a:ext cx="4095750" cy="685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011060" y="5147786"/>
              <a:ext cx="302762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8EA"/>
                  </a:solidFill>
                  <a:latin typeface="+mn-lt"/>
                  <a:ea typeface="+mn-ea"/>
                  <a:cs typeface="+mn-cs"/>
                </a:rPr>
                <a:t>共同完成，比独自完美更重要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80466" y="6077902"/>
            <a:ext cx="42108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67066"/>
                </a:solidFill>
                <a:latin typeface="+mn-lt"/>
                <a:ea typeface="+mn-ea"/>
                <a:cs typeface="+mn-cs"/>
              </a:rPr>
              <a:t>来源：UNEP Global Biodiversity Framework。事实编号：F006。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9892" y="597218"/>
            <a:ext cx="135175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09 / 从今天开始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9224" y="1056322"/>
            <a:ext cx="4775813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今天就能做的 5 个动作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7418" y="1669732"/>
            <a:ext cx="536992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低门槛、可记录、能重复——这就是可持续行动的起点。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57250" y="2571750"/>
            <a:ext cx="10477500" cy="2933700"/>
            <a:chOff x="857250" y="2571750"/>
            <a:chExt cx="10477500" cy="2933700"/>
          </a:xfrm>
        </p:grpSpPr>
        <p:grpSp>
          <p:nvGrpSpPr>
            <p:cNvPr id="8" name="Group 8"/>
            <p:cNvGrpSpPr/>
            <p:nvPr/>
          </p:nvGrpSpPr>
          <p:grpSpPr>
            <a:xfrm>
              <a:off x="857250" y="2571750"/>
              <a:ext cx="4762500" cy="647700"/>
              <a:chOff x="857250" y="2571750"/>
              <a:chExt cx="4762500" cy="64770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857250" y="2571750"/>
                <a:ext cx="4762500" cy="6477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181100" y="2788444"/>
                <a:ext cx="311364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943862" y="2804636"/>
                <a:ext cx="2564536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自带水杯，少一次性包装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6572250" y="2571750"/>
              <a:ext cx="4762500" cy="647700"/>
              <a:chOff x="6572250" y="2571750"/>
              <a:chExt cx="4762500" cy="6477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6572250" y="2571750"/>
                <a:ext cx="4762500" cy="647700"/>
              </a:xfrm>
              <a:prstGeom prst="roundRect">
                <a:avLst>
                  <a:gd name="adj" fmla="val 50000"/>
                </a:avLst>
              </a:prstGeom>
              <a:solidFill>
                <a:srgbClr val="DDF0FA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6896100" y="2788444"/>
                <a:ext cx="311364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58862" y="2804636"/>
                <a:ext cx="210144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按需取餐，减少剩余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57250" y="3714750"/>
              <a:ext cx="4762500" cy="647700"/>
              <a:chOff x="857250" y="3714750"/>
              <a:chExt cx="4762500" cy="6477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857250" y="3714750"/>
                <a:ext cx="4762500" cy="647700"/>
              </a:xfrm>
              <a:prstGeom prst="roundRect">
                <a:avLst>
                  <a:gd name="adj" fmla="val 50000"/>
                </a:avLst>
              </a:prstGeom>
              <a:solidFill>
                <a:srgbClr val="FFF0B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81100" y="3931444"/>
                <a:ext cx="311364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943862" y="3947636"/>
                <a:ext cx="2564536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把物品修好，再考虑更换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572250" y="3714750"/>
              <a:ext cx="4762500" cy="647700"/>
              <a:chOff x="6572250" y="3714750"/>
              <a:chExt cx="4762500" cy="6477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572250" y="3714750"/>
                <a:ext cx="4762500" cy="647700"/>
              </a:xfrm>
              <a:prstGeom prst="roundRect">
                <a:avLst>
                  <a:gd name="adj" fmla="val 50000"/>
                </a:avLst>
              </a:prstGeom>
              <a:solidFill>
                <a:srgbClr val="FADACF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896100" y="3931444"/>
                <a:ext cx="311364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58862" y="3947636"/>
                <a:ext cx="210144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观察并保护校园生境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3714750" y="4857750"/>
              <a:ext cx="4762500" cy="647700"/>
              <a:chOff x="3714750" y="4857750"/>
              <a:chExt cx="4762500" cy="6477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3714750" y="4857750"/>
                <a:ext cx="4762500" cy="6477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038600" y="5074444"/>
                <a:ext cx="311364" cy="366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80" b="1" dirty="0">
                    <a:solidFill>
                      <a:srgbClr val="FFF8EA"/>
                    </a:solidFill>
                    <a:latin typeface="+mn-lt"/>
                    <a:ea typeface="+mn-ea"/>
                    <a:cs typeface="+mn-cs"/>
                  </a:rPr>
                  <a:t>05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801362" y="5090636"/>
                <a:ext cx="210144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0" dirty="0">
                    <a:solidFill>
                      <a:srgbClr val="FFF8EA"/>
                    </a:solidFill>
                    <a:latin typeface="+mn-lt"/>
                    <a:ea typeface="+mn-ea"/>
                    <a:cs typeface="+mn-cs"/>
                  </a:rPr>
                  <a:t>邀请一位同伴一起做</a:t>
                </a:r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4632960" y="5958840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先选一个，不要一次选五个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9892" y="597218"/>
            <a:ext cx="207870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10 / 让好选择更容易发生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9224" y="1056322"/>
            <a:ext cx="5608320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把个人选择，变成校园规则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7418" y="1669732"/>
            <a:ext cx="538103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个人动作 × 集体机制，才能把一次活动变成长期习惯。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66750" y="2428875"/>
            <a:ext cx="10858500" cy="3629025"/>
            <a:chOff x="666750" y="2428875"/>
            <a:chExt cx="10858500" cy="3629025"/>
          </a:xfrm>
        </p:grpSpPr>
        <p:sp>
          <p:nvSpPr>
            <p:cNvPr id="5" name="Rectangle 5"/>
            <p:cNvSpPr/>
            <p:nvPr/>
          </p:nvSpPr>
          <p:spPr>
            <a:xfrm>
              <a:off x="666750" y="2428875"/>
              <a:ext cx="10858500" cy="552450"/>
            </a:xfrm>
            <a:prstGeom prst="roundRect">
              <a:avLst>
                <a:gd name="adj" fmla="val 3103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26895" y="26289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8EA"/>
                  </a:solidFill>
                  <a:latin typeface="+mn-lt"/>
                  <a:ea typeface="+mn-ea"/>
                  <a:cs typeface="+mn-cs"/>
                </a:rPr>
                <a:t>个人选择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217925" y="2628900"/>
              <a:ext cx="1470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8EA"/>
                  </a:solidFill>
                  <a:latin typeface="+mn-lt"/>
                  <a:ea typeface="+mn-ea"/>
                  <a:cs typeface="+mn-cs"/>
                </a:rPr>
                <a:t>班级 / 社团机制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66985" y="26289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8EA"/>
                  </a:solidFill>
                  <a:latin typeface="+mn-lt"/>
                  <a:ea typeface="+mn-ea"/>
                  <a:cs typeface="+mn-cs"/>
                </a:rPr>
                <a:t>下一步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666750" y="3143250"/>
              <a:ext cx="10858500" cy="2914650"/>
              <a:chOff x="666750" y="3143250"/>
              <a:chExt cx="10858500" cy="29146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666750" y="3143250"/>
                <a:ext cx="10858500" cy="628650"/>
              </a:xfrm>
              <a:prstGeom prst="roundRect">
                <a:avLst>
                  <a:gd name="adj" fmla="val 2121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666750" y="3905250"/>
                <a:ext cx="10858500" cy="628650"/>
              </a:xfrm>
              <a:prstGeom prst="roundRect">
                <a:avLst>
                  <a:gd name="adj" fmla="val 2121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666750" y="4667250"/>
                <a:ext cx="10858500" cy="628650"/>
              </a:xfrm>
              <a:prstGeom prst="roundRect">
                <a:avLst>
                  <a:gd name="adj" fmla="val 21212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666750" y="5429250"/>
                <a:ext cx="10858500" cy="628650"/>
              </a:xfrm>
              <a:prstGeom prst="roundRect">
                <a:avLst>
                  <a:gd name="adj" fmla="val 21212"/>
                </a:avLst>
              </a:pr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1040892" y="3388042"/>
              <a:ext cx="9417177" cy="2550033"/>
              <a:chOff x="1040892" y="3388042"/>
              <a:chExt cx="9417177" cy="2550033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040892" y="3388042"/>
                <a:ext cx="11313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自带杯 / 餐具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946142" y="3388042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活动默认不提供一次性杯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899142" y="3388042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改默认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40892" y="4150042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正确分类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946142" y="4150042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设置清晰、好找的回收点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899142" y="4150042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改环境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40892" y="4912042"/>
                <a:ext cx="11313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修复 / 再利用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946142" y="4912042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组织交换日、维修日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899142" y="4912042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改节奏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40892" y="5674042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发起倡议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946142" y="5674042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每周公开记录与复盘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899142" y="5674042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改习惯</a:t>
                </a:r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661416" y="6363652"/>
            <a:ext cx="28376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67066"/>
                </a:solidFill>
                <a:latin typeface="+mn-lt"/>
                <a:ea typeface="+mn-ea"/>
                <a:cs typeface="+mn-cs"/>
              </a:rPr>
              <a:t>矩阵内容为校园行动建议，不代表外部统计。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9892" y="597218"/>
            <a:ext cx="17152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11 / 把行动带回校园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9224" y="1056322"/>
            <a:ext cx="2771759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7 天校园挑战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7418" y="1669732"/>
            <a:ext cx="445922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选择一个动作，坚持七天，再邀请一位同伴。</a:t>
            </a:r>
          </a:p>
        </p:txBody>
      </p:sp>
      <p:sp>
        <p:nvSpPr>
          <p:cNvPr id="5" name="Line 5"/>
          <p:cNvSpPr/>
          <p:nvPr/>
        </p:nvSpPr>
        <p:spPr>
          <a:xfrm>
            <a:off x="1143000" y="37147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76200" cap="rnd">
            <a:solidFill>
              <a:schemeClr val="accent1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1257300" y="3257550"/>
            <a:ext cx="9486900" cy="1636395"/>
            <a:chOff x="1257300" y="3257550"/>
            <a:chExt cx="9486900" cy="1636395"/>
          </a:xfrm>
        </p:grpSpPr>
        <p:grpSp>
          <p:nvGrpSpPr>
            <p:cNvPr id="9" name="Group 9"/>
            <p:cNvGrpSpPr/>
            <p:nvPr/>
          </p:nvGrpSpPr>
          <p:grpSpPr>
            <a:xfrm>
              <a:off x="1257300" y="3257550"/>
              <a:ext cx="3771900" cy="914400"/>
              <a:chOff x="1257300" y="3257550"/>
              <a:chExt cx="3771900" cy="9144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257300" y="3257550"/>
                <a:ext cx="914400" cy="91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2686050" y="3257550"/>
                <a:ext cx="914400" cy="91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4114800" y="3257550"/>
                <a:ext cx="914400" cy="91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5543550" y="3257550"/>
              <a:ext cx="2343150" cy="914400"/>
              <a:chOff x="5543550" y="3257550"/>
              <a:chExt cx="2343150" cy="91440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5543550" y="3257550"/>
                <a:ext cx="914400" cy="914400"/>
              </a:xfrm>
              <a:prstGeom prst="ellipse">
                <a:avLst/>
              </a:prstGeom>
              <a:solidFill>
                <a:srgbClr val="DDF0FA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6972300" y="3257550"/>
                <a:ext cx="914400" cy="914400"/>
              </a:xfrm>
              <a:prstGeom prst="ellipse">
                <a:avLst/>
              </a:prstGeom>
              <a:solidFill>
                <a:srgbClr val="DDF0FA"/>
              </a:solidFill>
              <a:ln>
                <a:noFill/>
              </a:ln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8401050" y="3257550"/>
              <a:ext cx="2343150" cy="914400"/>
              <a:chOff x="8401050" y="3257550"/>
              <a:chExt cx="2343150" cy="91440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8401050" y="3257550"/>
                <a:ext cx="914400" cy="914400"/>
              </a:xfrm>
              <a:prstGeom prst="ellipse">
                <a:avLst/>
              </a:prstGeom>
              <a:solidFill>
                <a:srgbClr val="FADACF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9829800" y="3257550"/>
                <a:ext cx="914400" cy="914400"/>
              </a:xfrm>
              <a:prstGeom prst="ellipse">
                <a:avLst/>
              </a:prstGeom>
              <a:solidFill>
                <a:srgbClr val="FADACF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564450" y="3604736"/>
              <a:ext cx="30010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93200" y="3604736"/>
              <a:ext cx="30010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21950" y="3604736"/>
              <a:ext cx="30010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50700" y="3604736"/>
              <a:ext cx="30010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79450" y="3604736"/>
              <a:ext cx="30010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08200" y="3604736"/>
              <a:ext cx="30010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36950" y="3604736"/>
              <a:ext cx="30010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D7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04950" y="4600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48075" y="4600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05575" y="4600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坚持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63075" y="4600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邀请</a:t>
              </a:r>
            </a:p>
          </p:txBody>
        </p:sp>
      </p:grpSp>
      <p:sp>
        <p:nvSpPr>
          <p:cNvPr id="28" name="Rectangle 28"/>
          <p:cNvSpPr/>
          <p:nvPr/>
        </p:nvSpPr>
        <p:spPr>
          <a:xfrm>
            <a:off x="3000375" y="5381625"/>
            <a:ext cx="6191250" cy="5905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865942" y="5584508"/>
            <a:ext cx="24601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8EA"/>
                </a:solidFill>
                <a:latin typeface="+mn-lt"/>
                <a:ea typeface="+mn-ea"/>
                <a:cs typeface="+mn-cs"/>
              </a:rPr>
              <a:t>我改变了什么默认选项？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048750" y="0"/>
            <a:ext cx="2857500" cy="2857500"/>
          </a:xfrm>
          <a:prstGeom prst="ellipse">
            <a:avLst/>
          </a:prstGeom>
          <a:solidFill>
            <a:schemeClr val="accent3">
              <a:alpha val="45000"/>
            </a:schemeClr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476250" y="4476750"/>
            <a:ext cx="2476500" cy="2476500"/>
          </a:xfrm>
          <a:prstGeom prst="ellipse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9144000" y="4476750"/>
            <a:ext cx="2381250" cy="857250"/>
          </a:xfrm>
          <a:custGeom>
            <a:avLst/>
            <a:gdLst/>
            <a:ahLst/>
            <a:cxnLst/>
            <a:rect l="l" t="t" r="r" b="b"/>
            <a:pathLst>
              <a:path w="2381250" h="857250">
                <a:moveTo>
                  <a:pt x="0" y="857250"/>
                </a:moveTo>
                <a:cubicBezTo>
                  <a:pt x="762000" y="0"/>
                  <a:pt x="1619250" y="0"/>
                  <a:pt x="2381250" y="571500"/>
                </a:cubicBezTo>
              </a:path>
            </a:pathLst>
          </a:custGeom>
          <a:noFill/>
          <a:ln w="76200" cap="rnd">
            <a:solidFill>
              <a:srgbClr val="FFF8EA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792480" y="981075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0B8"/>
                </a:solidFill>
                <a:latin typeface="+mn-lt"/>
                <a:ea typeface="+mn-ea"/>
                <a:cs typeface="+mn-cs"/>
              </a:rPr>
              <a:t>最后，把行动带走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1050" y="2228850"/>
            <a:ext cx="4884420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FFF8EA"/>
                </a:solidFill>
                <a:latin typeface="+mn-lt"/>
                <a:ea typeface="+mn-ea"/>
                <a:cs typeface="+mn-cs"/>
              </a:rPr>
              <a:t>从下一次选择开始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7913" y="3162776"/>
            <a:ext cx="3011830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dirty="0">
                <a:solidFill>
                  <a:srgbClr val="E9F5E7"/>
                </a:solidFill>
                <a:latin typeface="+mn-lt"/>
                <a:ea typeface="+mn-ea"/>
                <a:cs typeface="+mn-cs"/>
              </a:rPr>
              <a:t>保护自然不是完美主义，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7913" y="3591401"/>
            <a:ext cx="545922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dirty="0">
                <a:solidFill>
                  <a:srgbClr val="E9F5E7"/>
                </a:solidFill>
                <a:latin typeface="+mn-lt"/>
                <a:ea typeface="+mn-ea"/>
                <a:cs typeface="+mn-cs"/>
              </a:rPr>
              <a:t>而是把一个好选择，变成更多人的默认选择。</a:t>
            </a:r>
          </a:p>
        </p:txBody>
      </p:sp>
      <p:sp>
        <p:nvSpPr>
          <p:cNvPr id="9" name="Rectangle 9"/>
          <p:cNvSpPr/>
          <p:nvPr/>
        </p:nvSpPr>
        <p:spPr>
          <a:xfrm>
            <a:off x="838200" y="4762500"/>
            <a:ext cx="4476750" cy="6858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32324" y="5006340"/>
            <a:ext cx="428850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我今天选择：减量 / 循环 / 修复 / 倡议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1723" y="6053614"/>
            <a:ext cx="3114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E9F5E7"/>
                </a:solidFill>
                <a:latin typeface="+mn-lt"/>
                <a:ea typeface="+mn-ea"/>
                <a:cs typeface="+mn-cs"/>
              </a:rPr>
              <a:t>谢谢｜愿下一次选择，离自然更近一点。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nature-protection-students">
  <a:themeElements>
    <a:clrScheme name="nature-protection-students">
      <a:dk1>
        <a:srgbClr val="20352D"/>
      </a:dk1>
      <a:lt1>
        <a:srgbClr val="FFF8EA"/>
      </a:lt1>
      <a:dk2>
        <a:srgbClr val="1F497D"/>
      </a:dk2>
      <a:lt2>
        <a:srgbClr val="E9F5E7"/>
      </a:lt2>
      <a:accent1>
        <a:srgbClr val="195B45"/>
      </a:accent1>
      <a:accent2>
        <a:srgbClr val="F47C5A"/>
      </a:accent2>
      <a:accent3>
        <a:srgbClr val="2D9CDB"/>
      </a:accent3>
      <a:accent4>
        <a:srgbClr val="195B45"/>
      </a:accent4>
      <a:accent5>
        <a:srgbClr val="4BACC6"/>
      </a:accent5>
      <a:accent6>
        <a:srgbClr val="F79646"/>
      </a:accent6>
      <a:hlink>
        <a:srgbClr val="F47C5A"/>
      </a:hlink>
      <a:folHlink>
        <a:srgbClr val="2D9CDB"/>
      </a:folHlink>
    </a:clrScheme>
    <a:fontScheme name="nature-protection-students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ature-protection-student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2026-08-25T06:13:25Z</dcterms:created>
  <dcterms:modified xsi:type="dcterms:W3CDTF">2026-08-25T06:13:25Z</dcterms:modified>
  <cp:category/>
  <cp:contentStatus/>
</cp:coreProperties>
</file>